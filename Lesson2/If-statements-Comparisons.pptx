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8" r:id="rId5"/>
    <p:sldId id="269" r:id="rId6"/>
    <p:sldId id="257" r:id="rId7"/>
    <p:sldId id="258" r:id="rId8"/>
    <p:sldId id="259" r:id="rId9"/>
    <p:sldId id="260" r:id="rId10"/>
    <p:sldId id="270" r:id="rId11"/>
    <p:sldId id="26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6B956C-5F40-D3DE-F077-839A097CC8E0}" v="18" dt="2026-08-05T11:13:49.220"/>
    <p1510:client id="{B3E37E31-A142-92B5-5B6E-B013FD748B2E}" v="239" dt="2026-08-05T12:08:31.9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an Glynn" userId="S::damiang@shrewsbury.ac.uk::a2e3c452-831f-4a1d-ba50-d779ccabed35" providerId="AD" clId="Web-{B3E37E31-A142-92B5-5B6E-B013FD748B2E}"/>
    <pc:docChg chg="addSld delSld modSld">
      <pc:chgData name="Damian Glynn" userId="S::damiang@shrewsbury.ac.uk::a2e3c452-831f-4a1d-ba50-d779ccabed35" providerId="AD" clId="Web-{B3E37E31-A142-92B5-5B6E-B013FD748B2E}" dt="2026-08-05T12:08:31.936" v="241"/>
      <pc:docMkLst>
        <pc:docMk/>
      </pc:docMkLst>
      <pc:sldChg chg="modSp">
        <pc:chgData name="Damian Glynn" userId="S::damiang@shrewsbury.ac.uk::a2e3c452-831f-4a1d-ba50-d779ccabed35" providerId="AD" clId="Web-{B3E37E31-A142-92B5-5B6E-B013FD748B2E}" dt="2026-08-05T11:57:37.184" v="38" actId="20577"/>
        <pc:sldMkLst>
          <pc:docMk/>
          <pc:sldMk cId="1830556609" sldId="264"/>
        </pc:sldMkLst>
        <pc:spChg chg="mod">
          <ac:chgData name="Damian Glynn" userId="S::damiang@shrewsbury.ac.uk::a2e3c452-831f-4a1d-ba50-d779ccabed35" providerId="AD" clId="Web-{B3E37E31-A142-92B5-5B6E-B013FD748B2E}" dt="2026-08-05T11:57:37.184" v="38" actId="20577"/>
          <ac:spMkLst>
            <pc:docMk/>
            <pc:sldMk cId="1830556609" sldId="264"/>
            <ac:spMk id="2" creationId="{6DAA67A9-97D9-1118-6969-E6A6A8CBA529}"/>
          </ac:spMkLst>
        </pc:spChg>
      </pc:sldChg>
      <pc:sldChg chg="modSp">
        <pc:chgData name="Damian Glynn" userId="S::damiang@shrewsbury.ac.uk::a2e3c452-831f-4a1d-ba50-d779ccabed35" providerId="AD" clId="Web-{B3E37E31-A142-92B5-5B6E-B013FD748B2E}" dt="2026-08-05T11:58:06.951" v="41" actId="20577"/>
        <pc:sldMkLst>
          <pc:docMk/>
          <pc:sldMk cId="1174102927" sldId="265"/>
        </pc:sldMkLst>
        <pc:spChg chg="mod">
          <ac:chgData name="Damian Glynn" userId="S::damiang@shrewsbury.ac.uk::a2e3c452-831f-4a1d-ba50-d779ccabed35" providerId="AD" clId="Web-{B3E37E31-A142-92B5-5B6E-B013FD748B2E}" dt="2026-08-05T11:58:06.951" v="41" actId="20577"/>
          <ac:spMkLst>
            <pc:docMk/>
            <pc:sldMk cId="1174102927" sldId="265"/>
            <ac:spMk id="2" creationId="{7895078A-F86C-E028-5534-E0AB99EA0F64}"/>
          </ac:spMkLst>
        </pc:spChg>
      </pc:sldChg>
      <pc:sldChg chg="new del">
        <pc:chgData name="Damian Glynn" userId="S::damiang@shrewsbury.ac.uk::a2e3c452-831f-4a1d-ba50-d779ccabed35" providerId="AD" clId="Web-{B3E37E31-A142-92B5-5B6E-B013FD748B2E}" dt="2026-08-05T11:45:31.363" v="2"/>
        <pc:sldMkLst>
          <pc:docMk/>
          <pc:sldMk cId="1049415937" sldId="266"/>
        </pc:sldMkLst>
      </pc:sldChg>
      <pc:sldChg chg="add del">
        <pc:chgData name="Damian Glynn" userId="S::damiang@shrewsbury.ac.uk::a2e3c452-831f-4a1d-ba50-d779ccabed35" providerId="AD" clId="Web-{B3E37E31-A142-92B5-5B6E-B013FD748B2E}" dt="2026-08-05T12:04:22.085" v="42"/>
        <pc:sldMkLst>
          <pc:docMk/>
          <pc:sldMk cId="3622075121" sldId="267"/>
        </pc:sldMkLst>
      </pc:sldChg>
      <pc:sldChg chg="modSp add">
        <pc:chgData name="Damian Glynn" userId="S::damiang@shrewsbury.ac.uk::a2e3c452-831f-4a1d-ba50-d779ccabed35" providerId="AD" clId="Web-{B3E37E31-A142-92B5-5B6E-B013FD748B2E}" dt="2026-08-05T11:56:36.995" v="30" actId="20577"/>
        <pc:sldMkLst>
          <pc:docMk/>
          <pc:sldMk cId="371382835" sldId="268"/>
        </pc:sldMkLst>
        <pc:spChg chg="mod">
          <ac:chgData name="Damian Glynn" userId="S::damiang@shrewsbury.ac.uk::a2e3c452-831f-4a1d-ba50-d779ccabed35" providerId="AD" clId="Web-{B3E37E31-A142-92B5-5B6E-B013FD748B2E}" dt="2026-08-05T11:56:36.995" v="30" actId="20577"/>
          <ac:spMkLst>
            <pc:docMk/>
            <pc:sldMk cId="371382835" sldId="268"/>
            <ac:spMk id="3" creationId="{5DB4DCCA-0373-0BDC-C2E5-B10BD8EDFE55}"/>
          </ac:spMkLst>
        </pc:spChg>
      </pc:sldChg>
      <pc:sldChg chg="modSp add">
        <pc:chgData name="Damian Glynn" userId="S::damiang@shrewsbury.ac.uk::a2e3c452-831f-4a1d-ba50-d779ccabed35" providerId="AD" clId="Web-{B3E37E31-A142-92B5-5B6E-B013FD748B2E}" dt="2026-08-05T11:57:21.793" v="33" actId="20577"/>
        <pc:sldMkLst>
          <pc:docMk/>
          <pc:sldMk cId="3445730667" sldId="269"/>
        </pc:sldMkLst>
        <pc:spChg chg="mod">
          <ac:chgData name="Damian Glynn" userId="S::damiang@shrewsbury.ac.uk::a2e3c452-831f-4a1d-ba50-d779ccabed35" providerId="AD" clId="Web-{B3E37E31-A142-92B5-5B6E-B013FD748B2E}" dt="2026-08-05T11:57:21.793" v="33" actId="20577"/>
          <ac:spMkLst>
            <pc:docMk/>
            <pc:sldMk cId="3445730667" sldId="269"/>
            <ac:spMk id="2" creationId="{C7B7CA1A-433E-4598-3E5D-6554C98670A9}"/>
          </ac:spMkLst>
        </pc:spChg>
        <pc:spChg chg="mod">
          <ac:chgData name="Damian Glynn" userId="S::damiang@shrewsbury.ac.uk::a2e3c452-831f-4a1d-ba50-d779ccabed35" providerId="AD" clId="Web-{B3E37E31-A142-92B5-5B6E-B013FD748B2E}" dt="2026-08-05T11:57:04.465" v="32" actId="20577"/>
          <ac:spMkLst>
            <pc:docMk/>
            <pc:sldMk cId="3445730667" sldId="269"/>
            <ac:spMk id="3" creationId="{B478EBE7-AFAD-7D7F-89A7-C9893CF0E917}"/>
          </ac:spMkLst>
        </pc:spChg>
      </pc:sldChg>
      <pc:sldChg chg="addSp delSp modSp new">
        <pc:chgData name="Damian Glynn" userId="S::damiang@shrewsbury.ac.uk::a2e3c452-831f-4a1d-ba50-d779ccabed35" providerId="AD" clId="Web-{B3E37E31-A142-92B5-5B6E-B013FD748B2E}" dt="2026-08-05T12:08:31.936" v="241"/>
        <pc:sldMkLst>
          <pc:docMk/>
          <pc:sldMk cId="2009249085" sldId="270"/>
        </pc:sldMkLst>
        <pc:spChg chg="mod">
          <ac:chgData name="Damian Glynn" userId="S::damiang@shrewsbury.ac.uk::a2e3c452-831f-4a1d-ba50-d779ccabed35" providerId="AD" clId="Web-{B3E37E31-A142-92B5-5B6E-B013FD748B2E}" dt="2026-08-05T12:04:37.242" v="51" actId="20577"/>
          <ac:spMkLst>
            <pc:docMk/>
            <pc:sldMk cId="2009249085" sldId="270"/>
            <ac:spMk id="2" creationId="{16C92CFC-E170-C37D-BE16-90E750EDA854}"/>
          </ac:spMkLst>
        </pc:spChg>
        <pc:spChg chg="del">
          <ac:chgData name="Damian Glynn" userId="S::damiang@shrewsbury.ac.uk::a2e3c452-831f-4a1d-ba50-d779ccabed35" providerId="AD" clId="Web-{B3E37E31-A142-92B5-5B6E-B013FD748B2E}" dt="2026-08-05T12:04:56.024" v="52"/>
          <ac:spMkLst>
            <pc:docMk/>
            <pc:sldMk cId="2009249085" sldId="270"/>
            <ac:spMk id="3" creationId="{36326A66-DBED-1EB6-CDBC-6679E5EF88F9}"/>
          </ac:spMkLst>
        </pc:spChg>
        <pc:graphicFrameChg chg="add mod ord modGraphic">
          <ac:chgData name="Damian Glynn" userId="S::damiang@shrewsbury.ac.uk::a2e3c452-831f-4a1d-ba50-d779ccabed35" providerId="AD" clId="Web-{B3E37E31-A142-92B5-5B6E-B013FD748B2E}" dt="2026-08-05T12:08:31.936" v="241"/>
          <ac:graphicFrameMkLst>
            <pc:docMk/>
            <pc:sldMk cId="2009249085" sldId="270"/>
            <ac:graphicFrameMk id="4" creationId="{63B964D3-BF0C-E4D2-10E4-E40D4EF6C7AA}"/>
          </ac:graphicFrameMkLst>
        </pc:graphicFrameChg>
      </pc:sldChg>
    </pc:docChg>
  </pc:docChgLst>
  <pc:docChgLst>
    <pc:chgData name="Damian Glynn" userId="S::damiang@shrewsbury.ac.uk::a2e3c452-831f-4a1d-ba50-d779ccabed35" providerId="AD" clId="Web-{996B956C-5F40-D3DE-F077-839A097CC8E0}"/>
    <pc:docChg chg="addSld delSld modSld">
      <pc:chgData name="Damian Glynn" userId="S::damiang@shrewsbury.ac.uk::a2e3c452-831f-4a1d-ba50-d779ccabed35" providerId="AD" clId="Web-{996B956C-5F40-D3DE-F077-839A097CC8E0}" dt="2026-08-05T11:13:49.220" v="17" actId="20577"/>
      <pc:docMkLst>
        <pc:docMk/>
      </pc:docMkLst>
      <pc:sldChg chg="modSp">
        <pc:chgData name="Damian Glynn" userId="S::damiang@shrewsbury.ac.uk::a2e3c452-831f-4a1d-ba50-d779ccabed35" providerId="AD" clId="Web-{996B956C-5F40-D3DE-F077-839A097CC8E0}" dt="2026-08-05T11:13:49.220" v="17" actId="20577"/>
        <pc:sldMkLst>
          <pc:docMk/>
          <pc:sldMk cId="4050531562" sldId="261"/>
        </pc:sldMkLst>
        <pc:spChg chg="mod">
          <ac:chgData name="Damian Glynn" userId="S::damiang@shrewsbury.ac.uk::a2e3c452-831f-4a1d-ba50-d779ccabed35" providerId="AD" clId="Web-{996B956C-5F40-D3DE-F077-839A097CC8E0}" dt="2026-08-05T11:13:49.220" v="17" actId="20577"/>
          <ac:spMkLst>
            <pc:docMk/>
            <pc:sldMk cId="4050531562" sldId="261"/>
            <ac:spMk id="3" creationId="{CCB18496-7962-E8C9-3A02-C4844A36E03E}"/>
          </ac:spMkLst>
        </pc:spChg>
      </pc:sldChg>
      <pc:sldChg chg="del">
        <pc:chgData name="Damian Glynn" userId="S::damiang@shrewsbury.ac.uk::a2e3c452-831f-4a1d-ba50-d779ccabed35" providerId="AD" clId="Web-{996B956C-5F40-D3DE-F077-839A097CC8E0}" dt="2026-08-05T11:12:39.278" v="2"/>
        <pc:sldMkLst>
          <pc:docMk/>
          <pc:sldMk cId="2146248784" sldId="262"/>
        </pc:sldMkLst>
      </pc:sldChg>
      <pc:sldChg chg="add">
        <pc:chgData name="Damian Glynn" userId="S::damiang@shrewsbury.ac.uk::a2e3c452-831f-4a1d-ba50-d779ccabed35" providerId="AD" clId="Web-{996B956C-5F40-D3DE-F077-839A097CC8E0}" dt="2026-08-05T11:12:09.901" v="0"/>
        <pc:sldMkLst>
          <pc:docMk/>
          <pc:sldMk cId="694083240" sldId="263"/>
        </pc:sldMkLst>
      </pc:sldChg>
      <pc:sldChg chg="add">
        <pc:chgData name="Damian Glynn" userId="S::damiang@shrewsbury.ac.uk::a2e3c452-831f-4a1d-ba50-d779ccabed35" providerId="AD" clId="Web-{996B956C-5F40-D3DE-F077-839A097CC8E0}" dt="2026-08-05T11:12:22.824" v="1"/>
        <pc:sldMkLst>
          <pc:docMk/>
          <pc:sldMk cId="1830556609" sldId="264"/>
        </pc:sldMkLst>
      </pc:sldChg>
      <pc:sldChg chg="modSp new">
        <pc:chgData name="Damian Glynn" userId="S::damiang@shrewsbury.ac.uk::a2e3c452-831f-4a1d-ba50-d779ccabed35" providerId="AD" clId="Web-{996B956C-5F40-D3DE-F077-839A097CC8E0}" dt="2026-08-05T11:12:57.357" v="11" actId="20577"/>
        <pc:sldMkLst>
          <pc:docMk/>
          <pc:sldMk cId="1174102927" sldId="265"/>
        </pc:sldMkLst>
        <pc:spChg chg="mod">
          <ac:chgData name="Damian Glynn" userId="S::damiang@shrewsbury.ac.uk::a2e3c452-831f-4a1d-ba50-d779ccabed35" providerId="AD" clId="Web-{996B956C-5F40-D3DE-F077-839A097CC8E0}" dt="2026-08-05T11:12:57.357" v="11" actId="20577"/>
          <ac:spMkLst>
            <pc:docMk/>
            <pc:sldMk cId="1174102927" sldId="265"/>
            <ac:spMk id="2" creationId="{7895078A-F86C-E028-5534-E0AB99EA0F6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1E5E-A373-7B47-601B-FF440F59F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A85044C-7F5D-71E7-EC1F-29A612DC8D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5DE5301-9A62-D112-0885-8457A2923B69}"/>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74EFE2F8-8716-18F1-CF55-268D5C1478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93FE6A-361C-DF6D-38C7-824715B15A3A}"/>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262507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FE95-C0CE-4FF2-595C-FD598258FE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A6DB2B-3E3F-1A5D-424B-3CDB9ED832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DFF79A-DAEC-53E9-B2F9-A39F543E1E78}"/>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602075DB-6914-AE7B-8E42-F6EA7A8795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5D8A96-AD24-A231-1E11-647B96DCF258}"/>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2663799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BA8C-B694-D79A-2FD2-E0B8C1F556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2D9316-CDC3-BFAC-9DD6-017F8067A1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FEF77-F0FB-15C6-E872-45EB944D26EC}"/>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EE2BF1C5-3F0B-658B-B7A2-9738781C48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EEE2B6-F311-093D-E2AE-F2A4D2945531}"/>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633384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C054-300F-7627-4705-32193586A62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6773F6-F1CB-C505-C3CB-4ED0BD813D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CC5EF0A-A416-E77E-B817-641F2489FC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6F9A944-7E3E-C16D-66B3-EF482C70CC6E}"/>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6" name="Footer Placeholder 5">
            <a:extLst>
              <a:ext uri="{FF2B5EF4-FFF2-40B4-BE49-F238E27FC236}">
                <a16:creationId xmlns:a16="http://schemas.microsoft.com/office/drawing/2014/main" id="{CCC6C180-242A-8882-BA50-3E235F681F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739195-36C1-0FEA-75B5-66B57919C076}"/>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127170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46A3-8E07-AE46-3ADB-60EE907F9E9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7AC597-AC6B-C906-0023-3BB113C91E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E8F1CE-1603-E0CE-60D2-733E1DAB16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0C06BCB-2DD8-3419-56DA-2B16792CA1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436B90-8794-F28E-801F-8F75065FC8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F4F0784-3FB1-7F02-E76C-373F939CDB60}"/>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8" name="Footer Placeholder 7">
            <a:extLst>
              <a:ext uri="{FF2B5EF4-FFF2-40B4-BE49-F238E27FC236}">
                <a16:creationId xmlns:a16="http://schemas.microsoft.com/office/drawing/2014/main" id="{97E5AFD9-49C9-5422-D6F4-BC1DA97B1DB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AAA0EB2-5BA5-FAF2-68D4-85FFB8A00751}"/>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353697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8DA3A-045C-9B6C-78BD-F23E441A8D1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E178D1F-B4AF-EA89-A25F-0CA96100C1C5}"/>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4" name="Footer Placeholder 3">
            <a:extLst>
              <a:ext uri="{FF2B5EF4-FFF2-40B4-BE49-F238E27FC236}">
                <a16:creationId xmlns:a16="http://schemas.microsoft.com/office/drawing/2014/main" id="{BCBBA4DB-7EBD-1AB6-E132-A36B3A11F57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51CFA8A-6CF7-7977-96BA-29435B01C58B}"/>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3939110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98056B-F3B9-0313-6CC7-1C80390836D3}"/>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3" name="Footer Placeholder 2">
            <a:extLst>
              <a:ext uri="{FF2B5EF4-FFF2-40B4-BE49-F238E27FC236}">
                <a16:creationId xmlns:a16="http://schemas.microsoft.com/office/drawing/2014/main" id="{D980A90C-1825-A329-E272-88BB14C0373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2AB5B85-F39C-CC6B-6B86-B6FF9A056049}"/>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3363877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9C73-422F-B2B5-2D68-94279D7FF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C5D2295-8082-54FF-E4A6-476886C583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1247BB-E393-553A-155D-D9C6D7A24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EDC6C3-F0D1-5552-3F9D-2995D5804D41}"/>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6" name="Footer Placeholder 5">
            <a:extLst>
              <a:ext uri="{FF2B5EF4-FFF2-40B4-BE49-F238E27FC236}">
                <a16:creationId xmlns:a16="http://schemas.microsoft.com/office/drawing/2014/main" id="{0F390920-09D7-D991-96E1-4DEAD803AE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A8D9906-E535-1C67-D053-0537A09E0DDD}"/>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2554866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3B658-8B9D-25A4-E57A-3628B76FD7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003CE5F-691E-562C-E825-39AA6E6B1C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069B761-12F0-AE7F-696C-3A63DDE0E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232C8-4A35-029A-C140-16D35EBB34D3}"/>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6" name="Footer Placeholder 5">
            <a:extLst>
              <a:ext uri="{FF2B5EF4-FFF2-40B4-BE49-F238E27FC236}">
                <a16:creationId xmlns:a16="http://schemas.microsoft.com/office/drawing/2014/main" id="{134462F4-AD24-DE66-CDA7-01AFA9E3B84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42F34B-F752-BCDF-03CC-FE1EDAF89BCC}"/>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174253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238F-3158-54D1-58BD-81F80E23A21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F4AAE0-8151-CBB2-D117-A6B1F90020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ABAC19-0F53-095F-0A53-CFE57E8C860D}"/>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DE38BD88-A463-B931-A00E-B109866451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C42323-29F3-E49D-6023-D6E456634C0E}"/>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330979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EA1346-E11D-EF9D-88BC-01760A520A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9ADB086-5232-B398-EB35-A3CECD3144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F5CF24-EAB1-6797-5D38-C4166BCAC76D}"/>
              </a:ext>
            </a:extLst>
          </p:cNvPr>
          <p:cNvSpPr>
            <a:spLocks noGrp="1"/>
          </p:cNvSpPr>
          <p:nvPr>
            <p:ph type="dt" sz="half" idx="10"/>
          </p:nvPr>
        </p:nvSpPr>
        <p:spPr/>
        <p:txBody>
          <a:body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DB88E895-5E34-262A-A300-19EB1596A8D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5C8F68-EE49-6B4F-F692-41C231C488FA}"/>
              </a:ext>
            </a:extLst>
          </p:cNvPr>
          <p:cNvSpPr>
            <a:spLocks noGrp="1"/>
          </p:cNvSpPr>
          <p:nvPr>
            <p:ph type="sldNum" sz="quarter" idx="12"/>
          </p:nvPr>
        </p:nvSpPr>
        <p:spPr/>
        <p:txBody>
          <a:bodyPr/>
          <a:lstStyle/>
          <a:p>
            <a:fld id="{2E155566-5EC6-466C-B122-AC5CB8D550D8}" type="slidenum">
              <a:rPr lang="en-GB" smtClean="0"/>
              <a:t>‹#›</a:t>
            </a:fld>
            <a:endParaRPr lang="en-GB"/>
          </a:p>
        </p:txBody>
      </p:sp>
    </p:spTree>
    <p:extLst>
      <p:ext uri="{BB962C8B-B14F-4D97-AF65-F5344CB8AC3E}">
        <p14:creationId xmlns:p14="http://schemas.microsoft.com/office/powerpoint/2010/main" val="176906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79A08-C57B-B28E-A6CC-2557641E83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A857A5-0158-FE1E-0C44-2089C6F02F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759175-9FD3-F71D-DDEF-4775877E89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446EA-5C98-406B-ABFA-5A5C31A73438}" type="datetimeFigureOut">
              <a:rPr lang="en-GB" smtClean="0"/>
              <a:t>05/08/2026</a:t>
            </a:fld>
            <a:endParaRPr lang="en-GB"/>
          </a:p>
        </p:txBody>
      </p:sp>
      <p:sp>
        <p:nvSpPr>
          <p:cNvPr id="5" name="Footer Placeholder 4">
            <a:extLst>
              <a:ext uri="{FF2B5EF4-FFF2-40B4-BE49-F238E27FC236}">
                <a16:creationId xmlns:a16="http://schemas.microsoft.com/office/drawing/2014/main" id="{61B07156-932E-F8F0-B354-1D361A9E35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1230D3D-11E0-9740-7E45-A1FF99459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55566-5EC6-466C-B122-AC5CB8D550D8}" type="slidenum">
              <a:rPr lang="en-GB" smtClean="0"/>
              <a:t>‹#›</a:t>
            </a:fld>
            <a:endParaRPr lang="en-GB"/>
          </a:p>
        </p:txBody>
      </p:sp>
    </p:spTree>
    <p:extLst>
      <p:ext uri="{BB962C8B-B14F-4D97-AF65-F5344CB8AC3E}">
        <p14:creationId xmlns:p14="http://schemas.microsoft.com/office/powerpoint/2010/main" val="1895502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9CE40-47A6-0B15-D1BD-572173B1E821}"/>
              </a:ext>
            </a:extLst>
          </p:cNvPr>
          <p:cNvSpPr>
            <a:spLocks noGrp="1"/>
          </p:cNvSpPr>
          <p:nvPr>
            <p:ph type="ctrTitle"/>
          </p:nvPr>
        </p:nvSpPr>
        <p:spPr/>
        <p:txBody>
          <a:bodyPr/>
          <a:lstStyle/>
          <a:p>
            <a:r>
              <a:rPr lang="en-GB" dirty="0"/>
              <a:t>If statements &amp; Comparisons</a:t>
            </a:r>
          </a:p>
        </p:txBody>
      </p:sp>
      <p:sp>
        <p:nvSpPr>
          <p:cNvPr id="3" name="Subtitle 2">
            <a:extLst>
              <a:ext uri="{FF2B5EF4-FFF2-40B4-BE49-F238E27FC236}">
                <a16:creationId xmlns:a16="http://schemas.microsoft.com/office/drawing/2014/main" id="{AE409CA9-99B9-0606-1CE3-BCBAC68B623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5761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BAC6-2E12-E5F5-D55F-32DD5B1B8038}"/>
              </a:ext>
            </a:extLst>
          </p:cNvPr>
          <p:cNvSpPr>
            <a:spLocks noGrp="1"/>
          </p:cNvSpPr>
          <p:nvPr>
            <p:ph type="title"/>
          </p:nvPr>
        </p:nvSpPr>
        <p:spPr/>
        <p:txBody>
          <a:bodyPr/>
          <a:lstStyle/>
          <a:p>
            <a:r>
              <a:rPr lang="en-GB" dirty="0"/>
              <a:t>Selection &amp; If statements </a:t>
            </a:r>
          </a:p>
        </p:txBody>
      </p:sp>
      <p:sp>
        <p:nvSpPr>
          <p:cNvPr id="3" name="Content Placeholder 2">
            <a:extLst>
              <a:ext uri="{FF2B5EF4-FFF2-40B4-BE49-F238E27FC236}">
                <a16:creationId xmlns:a16="http://schemas.microsoft.com/office/drawing/2014/main" id="{DE8A4CAB-8BED-D09F-66A1-EBF29AE0EB84}"/>
              </a:ext>
            </a:extLst>
          </p:cNvPr>
          <p:cNvSpPr>
            <a:spLocks noGrp="1"/>
          </p:cNvSpPr>
          <p:nvPr>
            <p:ph idx="1"/>
          </p:nvPr>
        </p:nvSpPr>
        <p:spPr/>
        <p:txBody>
          <a:bodyPr/>
          <a:lstStyle/>
          <a:p>
            <a:r>
              <a:rPr lang="en-GB" dirty="0"/>
              <a:t>Luckily, the “C” language allows us to express alternative plans. We do this with a second, slightly more complex form of the conditional statement the </a:t>
            </a:r>
            <a:r>
              <a:rPr lang="en-GB" b="1" dirty="0"/>
              <a:t>else</a:t>
            </a:r>
            <a:r>
              <a:rPr lang="en-GB" dirty="0"/>
              <a:t> statement:</a:t>
            </a:r>
          </a:p>
          <a:p>
            <a:endParaRPr lang="en-GB" dirty="0"/>
          </a:p>
          <a:p>
            <a:r>
              <a:rPr lang="en-GB" b="1" dirty="0"/>
              <a:t>if</a:t>
            </a:r>
            <a:r>
              <a:rPr lang="en-GB" dirty="0"/>
              <a:t> (</a:t>
            </a:r>
            <a:r>
              <a:rPr lang="en-GB" dirty="0" err="1"/>
              <a:t>true_or_false_condition</a:t>
            </a:r>
            <a:r>
              <a:rPr lang="en-GB" dirty="0"/>
              <a:t>)</a:t>
            </a:r>
            <a:br>
              <a:rPr lang="en-GB" dirty="0"/>
            </a:br>
            <a:r>
              <a:rPr lang="en-GB" dirty="0"/>
              <a:t>    </a:t>
            </a:r>
            <a:r>
              <a:rPr lang="en-GB" dirty="0" err="1"/>
              <a:t>perform_if_condition_true</a:t>
            </a:r>
            <a:r>
              <a:rPr lang="en-GB" dirty="0"/>
              <a:t>;</a:t>
            </a:r>
            <a:br>
              <a:rPr lang="en-GB" dirty="0"/>
            </a:br>
            <a:r>
              <a:rPr lang="en-GB" b="1" dirty="0"/>
              <a:t>else</a:t>
            </a:r>
            <a:br>
              <a:rPr lang="en-GB" dirty="0"/>
            </a:br>
            <a:r>
              <a:rPr lang="en-GB" dirty="0"/>
              <a:t>    </a:t>
            </a:r>
            <a:r>
              <a:rPr lang="en-GB" dirty="0" err="1"/>
              <a:t>perform_if_condition_false</a:t>
            </a:r>
            <a:r>
              <a:rPr lang="en-GB" dirty="0"/>
              <a:t>;</a:t>
            </a:r>
          </a:p>
          <a:p>
            <a:endParaRPr lang="en-GB" dirty="0"/>
          </a:p>
        </p:txBody>
      </p:sp>
    </p:spTree>
    <p:extLst>
      <p:ext uri="{BB962C8B-B14F-4D97-AF65-F5344CB8AC3E}">
        <p14:creationId xmlns:p14="http://schemas.microsoft.com/office/powerpoint/2010/main" val="694083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4EAA8-ADA3-07FF-E6E1-B101E7F4A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A67A9-97D9-1118-6969-E6A6A8CBA529}"/>
              </a:ext>
            </a:extLst>
          </p:cNvPr>
          <p:cNvSpPr>
            <a:spLocks noGrp="1"/>
          </p:cNvSpPr>
          <p:nvPr>
            <p:ph type="title"/>
          </p:nvPr>
        </p:nvSpPr>
        <p:spPr/>
        <p:txBody>
          <a:bodyPr/>
          <a:lstStyle/>
          <a:p>
            <a:r>
              <a:rPr lang="en-GB"/>
              <a:t>If-else</a:t>
            </a:r>
          </a:p>
        </p:txBody>
      </p:sp>
      <p:sp>
        <p:nvSpPr>
          <p:cNvPr id="3" name="Content Placeholder 2">
            <a:extLst>
              <a:ext uri="{FF2B5EF4-FFF2-40B4-BE49-F238E27FC236}">
                <a16:creationId xmlns:a16="http://schemas.microsoft.com/office/drawing/2014/main" id="{EAB7275D-EA3A-669D-6F8F-6F0C47118606}"/>
              </a:ext>
            </a:extLst>
          </p:cNvPr>
          <p:cNvSpPr>
            <a:spLocks noGrp="1"/>
          </p:cNvSpPr>
          <p:nvPr>
            <p:ph idx="1"/>
          </p:nvPr>
        </p:nvSpPr>
        <p:spPr/>
        <p:txBody>
          <a:bodyPr/>
          <a:lstStyle/>
          <a:p>
            <a:r>
              <a:rPr lang="en-GB" dirty="0"/>
              <a:t>So the </a:t>
            </a:r>
            <a:r>
              <a:rPr lang="en-GB" i="1" dirty="0"/>
              <a:t>if-else</a:t>
            </a:r>
            <a:r>
              <a:rPr lang="en-GB" dirty="0"/>
              <a:t> execution goes as follows:</a:t>
            </a:r>
          </a:p>
          <a:p>
            <a:pPr lvl="0"/>
            <a:r>
              <a:rPr lang="en-GB" dirty="0"/>
              <a:t>if the condition is “true” (its value is not equal to zero) the </a:t>
            </a:r>
            <a:r>
              <a:rPr lang="en-GB" dirty="0" err="1"/>
              <a:t>perform_if_condition_true</a:t>
            </a:r>
            <a:r>
              <a:rPr lang="en-GB" dirty="0"/>
              <a:t> is executed and the conditional statement comes to an end;</a:t>
            </a:r>
          </a:p>
          <a:p>
            <a:pPr lvl="0"/>
            <a:r>
              <a:rPr lang="en-GB" dirty="0"/>
              <a:t>if the condition is “false” (its value is equal to zero) the </a:t>
            </a:r>
            <a:r>
              <a:rPr lang="en-GB" dirty="0" err="1"/>
              <a:t>perform_if_condition_false</a:t>
            </a:r>
            <a:r>
              <a:rPr lang="en-GB" dirty="0"/>
              <a:t> is executed and the conditional statement comes to an end;</a:t>
            </a:r>
          </a:p>
          <a:p>
            <a:endParaRPr lang="en-GB" dirty="0"/>
          </a:p>
        </p:txBody>
      </p:sp>
    </p:spTree>
    <p:extLst>
      <p:ext uri="{BB962C8B-B14F-4D97-AF65-F5344CB8AC3E}">
        <p14:creationId xmlns:p14="http://schemas.microsoft.com/office/powerpoint/2010/main" val="1830556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7DD4-3863-9B85-7218-75083F05FF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4DCCA-0373-0BDC-C2E5-B10BD8EDFE55}"/>
              </a:ext>
            </a:extLst>
          </p:cNvPr>
          <p:cNvSpPr>
            <a:spLocks noGrp="1"/>
          </p:cNvSpPr>
          <p:nvPr>
            <p:ph idx="1"/>
          </p:nvPr>
        </p:nvSpPr>
        <p:spPr>
          <a:xfrm>
            <a:off x="838200" y="457200"/>
            <a:ext cx="10515600" cy="5719763"/>
          </a:xfrm>
        </p:spPr>
        <p:txBody>
          <a:bodyPr vert="horz" lIns="91440" tIns="45720" rIns="91440" bIns="45720" rtlCol="0" anchor="t">
            <a:normAutofit/>
          </a:bodyPr>
          <a:lstStyle/>
          <a:p>
            <a:r>
              <a:rPr lang="en-GB" b="1"/>
              <a:t>Using more than one instruction</a:t>
            </a:r>
          </a:p>
          <a:p>
            <a:endParaRPr lang="en-GB" dirty="0"/>
          </a:p>
          <a:p>
            <a:r>
              <a:rPr lang="en-GB" dirty="0"/>
              <a:t>When we have to </a:t>
            </a:r>
            <a:r>
              <a:rPr lang="en-GB" b="1" dirty="0"/>
              <a:t>conditionally</a:t>
            </a:r>
            <a:r>
              <a:rPr lang="en-GB" dirty="0"/>
              <a:t> execute more than one instruction, we need to use braces { and } which create a structure known as a </a:t>
            </a:r>
            <a:r>
              <a:rPr lang="en-GB" b="1" dirty="0"/>
              <a:t>compound statement</a:t>
            </a:r>
            <a:r>
              <a:rPr lang="en-GB" dirty="0"/>
              <a:t> or (much simpler) a </a:t>
            </a:r>
            <a:r>
              <a:rPr lang="en-GB" b="1" dirty="0"/>
              <a:t>block</a:t>
            </a:r>
            <a:r>
              <a:rPr lang="en-GB" dirty="0"/>
              <a:t>. The block is treated as a single instruction by the compiler.</a:t>
            </a:r>
            <a:endParaRPr lang="en-GB"/>
          </a:p>
          <a:p>
            <a:r>
              <a:rPr lang="en-GB" dirty="0"/>
              <a:t>This is how we can circumvent the if statement limitation.</a:t>
            </a:r>
          </a:p>
          <a:p>
            <a:endParaRPr lang="en-GB" dirty="0"/>
          </a:p>
          <a:p>
            <a:r>
              <a:rPr lang="en-GB" dirty="0"/>
              <a:t>if(</a:t>
            </a:r>
            <a:r>
              <a:rPr lang="en-GB" dirty="0" err="1"/>
              <a:t>SheepCounter</a:t>
            </a:r>
            <a:r>
              <a:rPr lang="en-GB" dirty="0"/>
              <a:t> &gt;= 120){</a:t>
            </a:r>
          </a:p>
          <a:p>
            <a:r>
              <a:rPr lang="en-GB" dirty="0" err="1"/>
              <a:t>MakeABed</a:t>
            </a:r>
            <a:r>
              <a:rPr lang="en-GB" dirty="0"/>
              <a:t>(); </a:t>
            </a:r>
            <a:r>
              <a:rPr lang="en-GB" dirty="0" err="1"/>
              <a:t>TakeAShower</a:t>
            </a:r>
            <a:r>
              <a:rPr lang="en-GB" dirty="0"/>
              <a:t>(); </a:t>
            </a:r>
            <a:r>
              <a:rPr lang="en-GB" dirty="0" err="1"/>
              <a:t>SleepAndDream</a:t>
            </a:r>
            <a:r>
              <a:rPr lang="en-GB" dirty="0"/>
              <a:t>(); </a:t>
            </a:r>
            <a:endParaRPr lang="en-GB"/>
          </a:p>
          <a:p>
            <a:r>
              <a:rPr lang="en-GB"/>
              <a:t>}</a:t>
            </a:r>
          </a:p>
          <a:p>
            <a:r>
              <a:rPr lang="en-GB" dirty="0" err="1"/>
              <a:t>FeedTheSheepdogs</a:t>
            </a:r>
            <a:r>
              <a:rPr lang="en-GB" dirty="0"/>
              <a:t>();</a:t>
            </a:r>
          </a:p>
          <a:p>
            <a:endParaRPr lang="en-GB" dirty="0"/>
          </a:p>
        </p:txBody>
      </p:sp>
    </p:spTree>
    <p:extLst>
      <p:ext uri="{BB962C8B-B14F-4D97-AF65-F5344CB8AC3E}">
        <p14:creationId xmlns:p14="http://schemas.microsoft.com/office/powerpoint/2010/main" val="37138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1552-D724-8457-41DE-879D0946F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7CA1A-433E-4598-3E5D-6554C98670A9}"/>
              </a:ext>
            </a:extLst>
          </p:cNvPr>
          <p:cNvSpPr>
            <a:spLocks noGrp="1"/>
          </p:cNvSpPr>
          <p:nvPr>
            <p:ph type="title"/>
          </p:nvPr>
        </p:nvSpPr>
        <p:spPr/>
        <p:txBody>
          <a:bodyPr>
            <a:normAutofit fontScale="90000"/>
          </a:bodyPr>
          <a:lstStyle/>
          <a:p>
            <a:r>
              <a:rPr lang="en-GB" dirty="0"/>
              <a:t>The creators of the “C” language, Mr. </a:t>
            </a:r>
            <a:r>
              <a:rPr lang="en-GB" b="1" dirty="0"/>
              <a:t>K</a:t>
            </a:r>
            <a:r>
              <a:rPr lang="en-GB" dirty="0"/>
              <a:t>ernighan and Mr. </a:t>
            </a:r>
            <a:r>
              <a:rPr lang="en-GB" b="1" dirty="0"/>
              <a:t>R</a:t>
            </a:r>
            <a:r>
              <a:rPr lang="en-GB" dirty="0"/>
              <a:t>itchie. They presented this style in their </a:t>
            </a:r>
            <a:r>
              <a:rPr lang="en-GB"/>
              <a:t>classic book</a:t>
            </a:r>
            <a:br>
              <a:rPr lang="en-GB" dirty="0"/>
            </a:br>
            <a:endParaRPr lang="en-GB" dirty="0"/>
          </a:p>
        </p:txBody>
      </p:sp>
      <p:sp>
        <p:nvSpPr>
          <p:cNvPr id="3" name="Content Placeholder 2">
            <a:extLst>
              <a:ext uri="{FF2B5EF4-FFF2-40B4-BE49-F238E27FC236}">
                <a16:creationId xmlns:a16="http://schemas.microsoft.com/office/drawing/2014/main" id="{B478EBE7-AFAD-7D7F-89A7-C9893CF0E917}"/>
              </a:ext>
            </a:extLst>
          </p:cNvPr>
          <p:cNvSpPr>
            <a:spLocks noGrp="1"/>
          </p:cNvSpPr>
          <p:nvPr>
            <p:ph idx="1"/>
          </p:nvPr>
        </p:nvSpPr>
        <p:spPr/>
        <p:txBody>
          <a:bodyPr vert="horz" lIns="91440" tIns="45720" rIns="91440" bIns="45720" rtlCol="0" anchor="t">
            <a:normAutofit fontScale="92500" lnSpcReduction="20000"/>
          </a:bodyPr>
          <a:lstStyle/>
          <a:p>
            <a:r>
              <a:rPr lang="en-GB" dirty="0"/>
              <a:t>The same snippet, written in accordance with the </a:t>
            </a:r>
            <a:r>
              <a:rPr lang="en-GB" i="1" dirty="0"/>
              <a:t>K &amp; R style</a:t>
            </a:r>
            <a:r>
              <a:rPr lang="en-GB" dirty="0"/>
              <a:t>, will look as follows:</a:t>
            </a:r>
          </a:p>
          <a:p>
            <a:endParaRPr lang="en-GB" dirty="0"/>
          </a:p>
          <a:p>
            <a:r>
              <a:rPr lang="en-GB" dirty="0"/>
              <a:t>if(</a:t>
            </a:r>
            <a:r>
              <a:rPr lang="en-GB" dirty="0" err="1"/>
              <a:t>SheepCounter</a:t>
            </a:r>
            <a:r>
              <a:rPr lang="en-GB" dirty="0"/>
              <a:t> &gt;= 120){</a:t>
            </a:r>
          </a:p>
          <a:p>
            <a:r>
              <a:rPr lang="en-GB" dirty="0"/>
              <a:t>    </a:t>
            </a:r>
            <a:r>
              <a:rPr lang="en-GB" dirty="0" err="1"/>
              <a:t>MakeABed</a:t>
            </a:r>
            <a:r>
              <a:rPr lang="en-GB" dirty="0"/>
              <a:t>();</a:t>
            </a:r>
          </a:p>
          <a:p>
            <a:r>
              <a:rPr lang="en-GB" dirty="0"/>
              <a:t>    </a:t>
            </a:r>
            <a:r>
              <a:rPr lang="en-GB" dirty="0" err="1"/>
              <a:t>TakeAShower</a:t>
            </a:r>
            <a:r>
              <a:rPr lang="en-GB" dirty="0"/>
              <a:t>();</a:t>
            </a:r>
          </a:p>
          <a:p>
            <a:r>
              <a:rPr lang="en-GB" dirty="0"/>
              <a:t>    </a:t>
            </a:r>
            <a:r>
              <a:rPr lang="en-GB" dirty="0" err="1"/>
              <a:t>SleepAndDream</a:t>
            </a:r>
            <a:r>
              <a:rPr lang="en-GB" dirty="0"/>
              <a:t>();</a:t>
            </a:r>
          </a:p>
          <a:p>
            <a:r>
              <a:rPr lang="en-GB" dirty="0"/>
              <a:t>}</a:t>
            </a:r>
          </a:p>
          <a:p>
            <a:r>
              <a:rPr lang="en-GB" dirty="0"/>
              <a:t> </a:t>
            </a:r>
            <a:r>
              <a:rPr lang="en-GB" dirty="0" err="1"/>
              <a:t>FeedTheSheepdogs</a:t>
            </a:r>
            <a:r>
              <a:rPr lang="en-GB" dirty="0"/>
              <a:t>();</a:t>
            </a:r>
          </a:p>
          <a:p>
            <a:r>
              <a:rPr lang="en-GB" dirty="0"/>
              <a:t>Note that a conditionally executed block is </a:t>
            </a:r>
            <a:r>
              <a:rPr lang="en-GB" b="1" dirty="0"/>
              <a:t>indented</a:t>
            </a:r>
            <a:r>
              <a:rPr lang="en-GB" dirty="0"/>
              <a:t> – it improves the readability of the program and manifests its conditional nature.</a:t>
            </a:r>
          </a:p>
          <a:p>
            <a:endParaRPr lang="en-GB" dirty="0"/>
          </a:p>
          <a:p>
            <a:endParaRPr lang="en-GB" dirty="0"/>
          </a:p>
          <a:p>
            <a:endParaRPr lang="en-GB" dirty="0"/>
          </a:p>
        </p:txBody>
      </p:sp>
    </p:spTree>
    <p:extLst>
      <p:ext uri="{BB962C8B-B14F-4D97-AF65-F5344CB8AC3E}">
        <p14:creationId xmlns:p14="http://schemas.microsoft.com/office/powerpoint/2010/main" val="3445730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91BD61-7A77-B247-799F-1023DCF21EBC}"/>
              </a:ext>
            </a:extLst>
          </p:cNvPr>
          <p:cNvSpPr>
            <a:spLocks noGrp="1"/>
          </p:cNvSpPr>
          <p:nvPr>
            <p:ph idx="1"/>
          </p:nvPr>
        </p:nvSpPr>
        <p:spPr>
          <a:xfrm>
            <a:off x="838200" y="294968"/>
            <a:ext cx="10515600" cy="6449961"/>
          </a:xfrm>
        </p:spPr>
        <p:txBody>
          <a:bodyPr>
            <a:normAutofit fontScale="85000" lnSpcReduction="20000"/>
          </a:bodyPr>
          <a:lstStyle/>
          <a:p>
            <a:r>
              <a:rPr lang="en-GB" dirty="0"/>
              <a:t>In C, the mechanism for controlling flow based on testing a condition is the if-else statement. Here’s a simple example:</a:t>
            </a:r>
          </a:p>
          <a:p>
            <a:endParaRPr lang="en-GB" dirty="0"/>
          </a:p>
          <a:p>
            <a:r>
              <a:rPr lang="en-GB" dirty="0"/>
              <a:t>#include &lt;</a:t>
            </a:r>
            <a:r>
              <a:rPr lang="en-GB" dirty="0" err="1"/>
              <a:t>stdio.h</a:t>
            </a:r>
            <a:r>
              <a:rPr lang="en-GB" dirty="0"/>
              <a:t>&gt;</a:t>
            </a:r>
          </a:p>
          <a:p>
            <a:r>
              <a:rPr lang="en-GB" dirty="0"/>
              <a:t>void main (void)</a:t>
            </a:r>
          </a:p>
          <a:p>
            <a:r>
              <a:rPr lang="en-GB" dirty="0"/>
              <a:t>{</a:t>
            </a:r>
          </a:p>
          <a:p>
            <a:r>
              <a:rPr lang="en-GB" dirty="0"/>
              <a:t>  int a = 0;</a:t>
            </a:r>
          </a:p>
          <a:p>
            <a:r>
              <a:rPr lang="en-GB" dirty="0"/>
              <a:t>  if (a == 0)</a:t>
            </a:r>
          </a:p>
          <a:p>
            <a:r>
              <a:rPr lang="en-GB" dirty="0"/>
              <a:t>  {</a:t>
            </a:r>
          </a:p>
          <a:p>
            <a:r>
              <a:rPr lang="en-GB" dirty="0"/>
              <a:t>    </a:t>
            </a:r>
            <a:r>
              <a:rPr lang="en-GB" dirty="0" err="1"/>
              <a:t>printf</a:t>
            </a:r>
            <a:r>
              <a:rPr lang="en-GB" dirty="0"/>
              <a:t> ("a is equal to 0\n");</a:t>
            </a:r>
          </a:p>
          <a:p>
            <a:r>
              <a:rPr lang="en-GB" dirty="0"/>
              <a:t>  }</a:t>
            </a:r>
          </a:p>
          <a:p>
            <a:r>
              <a:rPr lang="en-GB" dirty="0"/>
              <a:t>  else</a:t>
            </a:r>
          </a:p>
          <a:p>
            <a:r>
              <a:rPr lang="en-GB" dirty="0"/>
              <a:t>  {</a:t>
            </a:r>
          </a:p>
          <a:p>
            <a:r>
              <a:rPr lang="en-GB" dirty="0"/>
              <a:t>    </a:t>
            </a:r>
            <a:r>
              <a:rPr lang="en-GB" dirty="0" err="1"/>
              <a:t>printf</a:t>
            </a:r>
            <a:r>
              <a:rPr lang="en-GB" dirty="0"/>
              <a:t> ("a is not equal to 0\n");</a:t>
            </a:r>
          </a:p>
          <a:p>
            <a:r>
              <a:rPr lang="en-GB" dirty="0"/>
              <a:t>  }</a:t>
            </a:r>
          </a:p>
          <a:p>
            <a:r>
              <a:rPr lang="en-GB" dirty="0"/>
              <a:t>}</a:t>
            </a:r>
          </a:p>
          <a:p>
            <a:endParaRPr lang="en-GB" dirty="0"/>
          </a:p>
        </p:txBody>
      </p:sp>
    </p:spTree>
    <p:extLst>
      <p:ext uri="{BB962C8B-B14F-4D97-AF65-F5344CB8AC3E}">
        <p14:creationId xmlns:p14="http://schemas.microsoft.com/office/powerpoint/2010/main" val="2006227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1D3A2-3EAB-54D7-6A82-E94895CAC8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23AAC-6322-69B8-B086-EC0574CE4248}"/>
              </a:ext>
            </a:extLst>
          </p:cNvPr>
          <p:cNvSpPr>
            <a:spLocks noGrp="1"/>
          </p:cNvSpPr>
          <p:nvPr>
            <p:ph idx="1"/>
          </p:nvPr>
        </p:nvSpPr>
        <p:spPr>
          <a:xfrm>
            <a:off x="838200" y="530942"/>
            <a:ext cx="10515600" cy="5646021"/>
          </a:xfrm>
        </p:spPr>
        <p:txBody>
          <a:bodyPr>
            <a:normAutofit/>
          </a:bodyPr>
          <a:lstStyle/>
          <a:p>
            <a:r>
              <a:rPr lang="en-GB" dirty="0"/>
              <a:t>Here, the keyword </a:t>
            </a:r>
            <a:r>
              <a:rPr lang="en-GB" b="1" dirty="0"/>
              <a:t>if</a:t>
            </a:r>
            <a:r>
              <a:rPr lang="en-GB" dirty="0"/>
              <a:t> is followed by a test enclosed in round brackets, in this case </a:t>
            </a:r>
            <a:r>
              <a:rPr lang="en-GB" b="1" dirty="0"/>
              <a:t>(a == 0).</a:t>
            </a:r>
            <a:r>
              <a:rPr lang="en-GB" dirty="0"/>
              <a:t> If the test evaluates as true, the operations enclosed by the curly brackets after the test are executed. </a:t>
            </a:r>
          </a:p>
          <a:p>
            <a:r>
              <a:rPr lang="en-GB" dirty="0"/>
              <a:t>This example also shows the use of an else clause. At the end of the curly brackets around the operations which you want to execute if the test is true, there’s an </a:t>
            </a:r>
            <a:r>
              <a:rPr lang="en-GB" b="1" dirty="0"/>
              <a:t>else</a:t>
            </a:r>
            <a:r>
              <a:rPr lang="en-GB" dirty="0"/>
              <a:t> followed by another set of curly brackets; these contain the operations you want to execute if the original test evaluated as false. </a:t>
            </a:r>
          </a:p>
          <a:p>
            <a:r>
              <a:rPr lang="en-GB" dirty="0"/>
              <a:t>Try compiling the code above, and change the value with which </a:t>
            </a:r>
            <a:r>
              <a:rPr lang="en-GB" b="1" dirty="0"/>
              <a:t>a </a:t>
            </a:r>
            <a:r>
              <a:rPr lang="en-GB" dirty="0"/>
              <a:t>is initialised to make sure it does what you expect.</a:t>
            </a:r>
          </a:p>
          <a:p>
            <a:r>
              <a:rPr lang="en-GB" dirty="0"/>
              <a:t> In C, a value of 0 is equivalent to false, and a non-zero value is equivalent to true. </a:t>
            </a:r>
          </a:p>
          <a:p>
            <a:endParaRPr lang="en-GB" dirty="0"/>
          </a:p>
          <a:p>
            <a:endParaRPr lang="en-GB" dirty="0"/>
          </a:p>
        </p:txBody>
      </p:sp>
    </p:spTree>
    <p:extLst>
      <p:ext uri="{BB962C8B-B14F-4D97-AF65-F5344CB8AC3E}">
        <p14:creationId xmlns:p14="http://schemas.microsoft.com/office/powerpoint/2010/main" val="4137444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E3311-C232-C9C1-F950-45200B18A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DD829-D229-2F5E-40CA-D42FDEE85744}"/>
              </a:ext>
            </a:extLst>
          </p:cNvPr>
          <p:cNvSpPr>
            <a:spLocks noGrp="1"/>
          </p:cNvSpPr>
          <p:nvPr>
            <p:ph type="title"/>
          </p:nvPr>
        </p:nvSpPr>
        <p:spPr/>
        <p:txBody>
          <a:bodyPr/>
          <a:lstStyle/>
          <a:p>
            <a:r>
              <a:rPr lang="en-GB" b="1" dirty="0"/>
              <a:t>= or ==</a:t>
            </a:r>
          </a:p>
        </p:txBody>
      </p:sp>
      <p:sp>
        <p:nvSpPr>
          <p:cNvPr id="3" name="Content Placeholder 2">
            <a:extLst>
              <a:ext uri="{FF2B5EF4-FFF2-40B4-BE49-F238E27FC236}">
                <a16:creationId xmlns:a16="http://schemas.microsoft.com/office/drawing/2014/main" id="{E9B3DD89-0E3D-6B86-BBAC-C05F940E8927}"/>
              </a:ext>
            </a:extLst>
          </p:cNvPr>
          <p:cNvSpPr>
            <a:spLocks noGrp="1"/>
          </p:cNvSpPr>
          <p:nvPr>
            <p:ph idx="1"/>
          </p:nvPr>
        </p:nvSpPr>
        <p:spPr/>
        <p:txBody>
          <a:bodyPr>
            <a:normAutofit fontScale="92500"/>
          </a:bodyPr>
          <a:lstStyle/>
          <a:p>
            <a:r>
              <a:rPr lang="en-GB" b="1" dirty="0"/>
              <a:t>if (a == 0)</a:t>
            </a:r>
            <a:endParaRPr lang="en-GB" dirty="0"/>
          </a:p>
          <a:p>
            <a:r>
              <a:rPr lang="en-GB" b="1" dirty="0"/>
              <a:t> </a:t>
            </a:r>
            <a:endParaRPr lang="en-GB" dirty="0"/>
          </a:p>
          <a:p>
            <a:r>
              <a:rPr lang="en-GB" dirty="0"/>
              <a:t>…tests to see if </a:t>
            </a:r>
            <a:r>
              <a:rPr lang="en-GB" b="1" dirty="0"/>
              <a:t>a</a:t>
            </a:r>
            <a:r>
              <a:rPr lang="en-GB" dirty="0"/>
              <a:t> is equal to 0. If it is, then the test evaluates as true, and the code immediately after the </a:t>
            </a:r>
            <a:r>
              <a:rPr lang="en-GB" b="1" dirty="0"/>
              <a:t>if </a:t>
            </a:r>
            <a:r>
              <a:rPr lang="en-GB" dirty="0"/>
              <a:t>is executed. But the statement…</a:t>
            </a:r>
          </a:p>
          <a:p>
            <a:r>
              <a:rPr lang="en-GB" b="1" dirty="0"/>
              <a:t>if (a = 0)</a:t>
            </a:r>
            <a:endParaRPr lang="en-GB" dirty="0"/>
          </a:p>
          <a:p>
            <a:r>
              <a:rPr lang="en-GB" dirty="0"/>
              <a:t> </a:t>
            </a:r>
          </a:p>
          <a:p>
            <a:r>
              <a:rPr lang="en-GB" dirty="0"/>
              <a:t>…doesn’t compare </a:t>
            </a:r>
            <a:r>
              <a:rPr lang="en-GB" b="1" dirty="0"/>
              <a:t>a </a:t>
            </a:r>
            <a:r>
              <a:rPr lang="en-GB" dirty="0"/>
              <a:t>against 0 at all: it just sets </a:t>
            </a:r>
            <a:r>
              <a:rPr lang="en-GB" b="1" dirty="0"/>
              <a:t>a</a:t>
            </a:r>
            <a:r>
              <a:rPr lang="en-GB" dirty="0"/>
              <a:t> to 0. So how does the compiler decide what to do next? In this case, it just looks at the value of what’s in the brackets; you’ve set </a:t>
            </a:r>
            <a:r>
              <a:rPr lang="en-GB" b="1" dirty="0"/>
              <a:t>a</a:t>
            </a:r>
            <a:r>
              <a:rPr lang="en-GB" dirty="0"/>
              <a:t> to 0, so the value inside the brackets is 0. </a:t>
            </a:r>
          </a:p>
          <a:p>
            <a:endParaRPr lang="en-GB" dirty="0"/>
          </a:p>
        </p:txBody>
      </p:sp>
    </p:spTree>
    <p:extLst>
      <p:ext uri="{BB962C8B-B14F-4D97-AF65-F5344CB8AC3E}">
        <p14:creationId xmlns:p14="http://schemas.microsoft.com/office/powerpoint/2010/main" val="337949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3919A-226F-8E01-47A6-5F4F050FDDA6}"/>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AE867F5-083F-62F9-B7C0-F56D9AFE11FE}"/>
              </a:ext>
            </a:extLst>
          </p:cNvPr>
          <p:cNvGraphicFramePr>
            <a:graphicFrameLocks noGrp="1"/>
          </p:cNvGraphicFramePr>
          <p:nvPr>
            <p:ph idx="1"/>
            <p:extLst>
              <p:ext uri="{D42A27DB-BD31-4B8C-83A1-F6EECF244321}">
                <p14:modId xmlns:p14="http://schemas.microsoft.com/office/powerpoint/2010/main" val="2166749464"/>
              </p:ext>
            </p:extLst>
          </p:nvPr>
        </p:nvGraphicFramePr>
        <p:xfrm>
          <a:off x="838200" y="960386"/>
          <a:ext cx="10515600" cy="44805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228656266"/>
                    </a:ext>
                  </a:extLst>
                </a:gridCol>
                <a:gridCol w="5257800">
                  <a:extLst>
                    <a:ext uri="{9D8B030D-6E8A-4147-A177-3AD203B41FA5}">
                      <a16:colId xmlns:a16="http://schemas.microsoft.com/office/drawing/2014/main" val="1619731328"/>
                    </a:ext>
                  </a:extLst>
                </a:gridCol>
              </a:tblGrid>
              <a:tr h="370840">
                <a:tc>
                  <a:txBody>
                    <a:bodyPr/>
                    <a:lstStyle/>
                    <a:p>
                      <a:r>
                        <a:rPr lang="en-GB" sz="3600" dirty="0"/>
                        <a:t>Operator </a:t>
                      </a:r>
                    </a:p>
                  </a:txBody>
                  <a:tcPr/>
                </a:tc>
                <a:tc>
                  <a:txBody>
                    <a:bodyPr/>
                    <a:lstStyle/>
                    <a:p>
                      <a:r>
                        <a:rPr lang="en-GB" sz="3600" dirty="0"/>
                        <a:t>Meaning</a:t>
                      </a:r>
                    </a:p>
                  </a:txBody>
                  <a:tcPr/>
                </a:tc>
                <a:extLst>
                  <a:ext uri="{0D108BD9-81ED-4DB2-BD59-A6C34878D82A}">
                    <a16:rowId xmlns:a16="http://schemas.microsoft.com/office/drawing/2014/main" val="3596087417"/>
                  </a:ext>
                </a:extLst>
              </a:tr>
              <a:tr h="370840">
                <a:tc>
                  <a:txBody>
                    <a:bodyPr/>
                    <a:lstStyle/>
                    <a:p>
                      <a:r>
                        <a:rPr lang="en-GB" sz="3600" dirty="0"/>
                        <a:t>==</a:t>
                      </a:r>
                    </a:p>
                  </a:txBody>
                  <a:tcPr/>
                </a:tc>
                <a:tc>
                  <a:txBody>
                    <a:bodyPr/>
                    <a:lstStyle/>
                    <a:p>
                      <a:r>
                        <a:rPr lang="en-GB" sz="3600" dirty="0"/>
                        <a:t>Is equal to</a:t>
                      </a:r>
                    </a:p>
                  </a:txBody>
                  <a:tcPr/>
                </a:tc>
                <a:extLst>
                  <a:ext uri="{0D108BD9-81ED-4DB2-BD59-A6C34878D82A}">
                    <a16:rowId xmlns:a16="http://schemas.microsoft.com/office/drawing/2014/main" val="363389486"/>
                  </a:ext>
                </a:extLst>
              </a:tr>
              <a:tr h="370840">
                <a:tc>
                  <a:txBody>
                    <a:bodyPr/>
                    <a:lstStyle/>
                    <a:p>
                      <a:r>
                        <a:rPr lang="en-GB" sz="3600" dirty="0"/>
                        <a:t>!=</a:t>
                      </a:r>
                    </a:p>
                  </a:txBody>
                  <a:tcPr/>
                </a:tc>
                <a:tc>
                  <a:txBody>
                    <a:bodyPr/>
                    <a:lstStyle/>
                    <a:p>
                      <a:r>
                        <a:rPr lang="en-GB" sz="3600" dirty="0"/>
                        <a:t>Not equal to</a:t>
                      </a:r>
                    </a:p>
                  </a:txBody>
                  <a:tcPr/>
                </a:tc>
                <a:extLst>
                  <a:ext uri="{0D108BD9-81ED-4DB2-BD59-A6C34878D82A}">
                    <a16:rowId xmlns:a16="http://schemas.microsoft.com/office/drawing/2014/main" val="2787002106"/>
                  </a:ext>
                </a:extLst>
              </a:tr>
              <a:tr h="370840">
                <a:tc>
                  <a:txBody>
                    <a:bodyPr/>
                    <a:lstStyle/>
                    <a:p>
                      <a:r>
                        <a:rPr lang="en-GB" sz="3600" dirty="0"/>
                        <a:t>&gt;</a:t>
                      </a:r>
                    </a:p>
                  </a:txBody>
                  <a:tcPr/>
                </a:tc>
                <a:tc>
                  <a:txBody>
                    <a:bodyPr/>
                    <a:lstStyle/>
                    <a:p>
                      <a:r>
                        <a:rPr lang="en-GB" sz="3600" dirty="0"/>
                        <a:t>Is greater than</a:t>
                      </a:r>
                    </a:p>
                  </a:txBody>
                  <a:tcPr/>
                </a:tc>
                <a:extLst>
                  <a:ext uri="{0D108BD9-81ED-4DB2-BD59-A6C34878D82A}">
                    <a16:rowId xmlns:a16="http://schemas.microsoft.com/office/drawing/2014/main" val="264880895"/>
                  </a:ext>
                </a:extLst>
              </a:tr>
              <a:tr h="370840">
                <a:tc>
                  <a:txBody>
                    <a:bodyPr/>
                    <a:lstStyle/>
                    <a:p>
                      <a:r>
                        <a:rPr lang="en-GB" sz="3600" dirty="0"/>
                        <a:t>&lt;</a:t>
                      </a:r>
                    </a:p>
                  </a:txBody>
                  <a:tcPr/>
                </a:tc>
                <a:tc>
                  <a:txBody>
                    <a:bodyPr/>
                    <a:lstStyle/>
                    <a:p>
                      <a:r>
                        <a:rPr lang="en-GB" sz="3600" dirty="0"/>
                        <a:t>Is less than</a:t>
                      </a:r>
                    </a:p>
                  </a:txBody>
                  <a:tcPr/>
                </a:tc>
                <a:extLst>
                  <a:ext uri="{0D108BD9-81ED-4DB2-BD59-A6C34878D82A}">
                    <a16:rowId xmlns:a16="http://schemas.microsoft.com/office/drawing/2014/main" val="1103890199"/>
                  </a:ext>
                </a:extLst>
              </a:tr>
              <a:tr h="370840">
                <a:tc>
                  <a:txBody>
                    <a:bodyPr/>
                    <a:lstStyle/>
                    <a:p>
                      <a:r>
                        <a:rPr lang="en-GB" sz="3600" dirty="0"/>
                        <a:t>&gt;=</a:t>
                      </a:r>
                    </a:p>
                  </a:txBody>
                  <a:tcPr/>
                </a:tc>
                <a:tc>
                  <a:txBody>
                    <a:bodyPr/>
                    <a:lstStyle/>
                    <a:p>
                      <a:r>
                        <a:rPr lang="en-GB" sz="3600" dirty="0"/>
                        <a:t>Is greater than or equal to</a:t>
                      </a:r>
                    </a:p>
                  </a:txBody>
                  <a:tcPr/>
                </a:tc>
                <a:extLst>
                  <a:ext uri="{0D108BD9-81ED-4DB2-BD59-A6C34878D82A}">
                    <a16:rowId xmlns:a16="http://schemas.microsoft.com/office/drawing/2014/main" val="2132437824"/>
                  </a:ext>
                </a:extLst>
              </a:tr>
              <a:tr h="370840">
                <a:tc>
                  <a:txBody>
                    <a:bodyPr/>
                    <a:lstStyle/>
                    <a:p>
                      <a:r>
                        <a:rPr lang="en-GB" sz="3600" dirty="0"/>
                        <a:t>&lt;=</a:t>
                      </a:r>
                    </a:p>
                  </a:txBody>
                  <a:tcPr/>
                </a:tc>
                <a:tc>
                  <a:txBody>
                    <a:bodyPr/>
                    <a:lstStyle/>
                    <a:p>
                      <a:r>
                        <a:rPr lang="en-GB" sz="3600" dirty="0"/>
                        <a:t>Is less than or equal to</a:t>
                      </a:r>
                    </a:p>
                  </a:txBody>
                  <a:tcPr/>
                </a:tc>
                <a:extLst>
                  <a:ext uri="{0D108BD9-81ED-4DB2-BD59-A6C34878D82A}">
                    <a16:rowId xmlns:a16="http://schemas.microsoft.com/office/drawing/2014/main" val="114630697"/>
                  </a:ext>
                </a:extLst>
              </a:tr>
            </a:tbl>
          </a:graphicData>
        </a:graphic>
      </p:graphicFrame>
    </p:spTree>
    <p:extLst>
      <p:ext uri="{BB962C8B-B14F-4D97-AF65-F5344CB8AC3E}">
        <p14:creationId xmlns:p14="http://schemas.microsoft.com/office/powerpoint/2010/main" val="1056883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2CFC-E170-C37D-BE16-90E750EDA854}"/>
              </a:ext>
            </a:extLst>
          </p:cNvPr>
          <p:cNvSpPr>
            <a:spLocks noGrp="1"/>
          </p:cNvSpPr>
          <p:nvPr>
            <p:ph type="title"/>
          </p:nvPr>
        </p:nvSpPr>
        <p:spPr/>
        <p:txBody>
          <a:bodyPr/>
          <a:lstStyle/>
          <a:p>
            <a:r>
              <a:rPr lang="en-GB" dirty="0"/>
              <a:t>Order of </a:t>
            </a:r>
            <a:r>
              <a:rPr lang="en-GB"/>
              <a:t>Precedence </a:t>
            </a:r>
            <a:endParaRPr lang="en-GB" dirty="0"/>
          </a:p>
        </p:txBody>
      </p:sp>
      <p:graphicFrame>
        <p:nvGraphicFramePr>
          <p:cNvPr id="4" name="Content Placeholder 3">
            <a:extLst>
              <a:ext uri="{FF2B5EF4-FFF2-40B4-BE49-F238E27FC236}">
                <a16:creationId xmlns:a16="http://schemas.microsoft.com/office/drawing/2014/main" id="{63B964D3-BF0C-E4D2-10E4-E40D4EF6C7AA}"/>
              </a:ext>
            </a:extLst>
          </p:cNvPr>
          <p:cNvGraphicFramePr>
            <a:graphicFrameLocks noGrp="1"/>
          </p:cNvGraphicFramePr>
          <p:nvPr>
            <p:ph idx="1"/>
            <p:extLst>
              <p:ext uri="{D42A27DB-BD31-4B8C-83A1-F6EECF244321}">
                <p14:modId xmlns:p14="http://schemas.microsoft.com/office/powerpoint/2010/main" val="1157091179"/>
              </p:ext>
            </p:extLst>
          </p:nvPr>
        </p:nvGraphicFramePr>
        <p:xfrm>
          <a:off x="838200" y="1825625"/>
          <a:ext cx="10515600" cy="4507644"/>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89930956"/>
                    </a:ext>
                  </a:extLst>
                </a:gridCol>
                <a:gridCol w="3505200">
                  <a:extLst>
                    <a:ext uri="{9D8B030D-6E8A-4147-A177-3AD203B41FA5}">
                      <a16:colId xmlns:a16="http://schemas.microsoft.com/office/drawing/2014/main" val="2656114026"/>
                    </a:ext>
                  </a:extLst>
                </a:gridCol>
                <a:gridCol w="3505200">
                  <a:extLst>
                    <a:ext uri="{9D8B030D-6E8A-4147-A177-3AD203B41FA5}">
                      <a16:colId xmlns:a16="http://schemas.microsoft.com/office/drawing/2014/main" val="1191162763"/>
                    </a:ext>
                  </a:extLst>
                </a:gridCol>
              </a:tblGrid>
              <a:tr h="791348">
                <a:tc>
                  <a:txBody>
                    <a:bodyPr/>
                    <a:lstStyle/>
                    <a:p>
                      <a:r>
                        <a:rPr lang="en-GB" sz="3200"/>
                        <a:t>Precedence</a:t>
                      </a:r>
                      <a:r>
                        <a:rPr lang="en-GB" sz="3200" dirty="0"/>
                        <a:t> </a:t>
                      </a:r>
                    </a:p>
                  </a:txBody>
                  <a:tcPr/>
                </a:tc>
                <a:tc>
                  <a:txBody>
                    <a:bodyPr/>
                    <a:lstStyle/>
                    <a:p>
                      <a:r>
                        <a:rPr lang="en-GB" sz="3200"/>
                        <a:t>Operators </a:t>
                      </a:r>
                      <a:endParaRPr lang="en-GB" sz="3200" dirty="0"/>
                    </a:p>
                  </a:txBody>
                  <a:tcPr/>
                </a:tc>
                <a:tc>
                  <a:txBody>
                    <a:bodyPr/>
                    <a:lstStyle/>
                    <a:p>
                      <a:r>
                        <a:rPr lang="en-GB" sz="3200"/>
                        <a:t>Example</a:t>
                      </a:r>
                      <a:endParaRPr lang="en-GB" sz="3200" dirty="0"/>
                    </a:p>
                  </a:txBody>
                  <a:tcPr/>
                </a:tc>
                <a:extLst>
                  <a:ext uri="{0D108BD9-81ED-4DB2-BD59-A6C34878D82A}">
                    <a16:rowId xmlns:a16="http://schemas.microsoft.com/office/drawing/2014/main" val="3035491720"/>
                  </a:ext>
                </a:extLst>
              </a:tr>
              <a:tr h="791348">
                <a:tc>
                  <a:txBody>
                    <a:bodyPr/>
                    <a:lstStyle/>
                    <a:p>
                      <a:r>
                        <a:rPr lang="en-GB" sz="3200" b="1">
                          <a:latin typeface="Aptos"/>
                        </a:rPr>
                        <a:t>Highest</a:t>
                      </a:r>
                      <a:endParaRPr lang="en-GB" sz="3200" b="1" dirty="0">
                        <a:latin typeface="Aptos"/>
                      </a:endParaRPr>
                    </a:p>
                  </a:txBody>
                  <a:tcPr/>
                </a:tc>
                <a:tc>
                  <a:txBody>
                    <a:bodyPr/>
                    <a:lstStyle/>
                    <a:p>
                      <a:r>
                        <a:rPr lang="en-GB" sz="3200" b="1">
                          <a:latin typeface="Aptos"/>
                        </a:rPr>
                        <a:t>( )</a:t>
                      </a:r>
                      <a:endParaRPr lang="en-GB" sz="3200" b="1" dirty="0">
                        <a:latin typeface="Aptos"/>
                      </a:endParaRPr>
                    </a:p>
                  </a:txBody>
                  <a:tcPr/>
                </a:tc>
                <a:tc>
                  <a:txBody>
                    <a:bodyPr/>
                    <a:lstStyle/>
                    <a:p>
                      <a:pPr lvl="0" algn="l">
                        <a:lnSpc>
                          <a:spcPct val="100000"/>
                        </a:lnSpc>
                        <a:spcBef>
                          <a:spcPts val="0"/>
                        </a:spcBef>
                        <a:spcAft>
                          <a:spcPts val="0"/>
                        </a:spcAft>
                        <a:buNone/>
                      </a:pPr>
                      <a:r>
                        <a:rPr lang="en-GB" sz="3200" b="1" i="0" u="none" strike="noStrike" noProof="0">
                          <a:latin typeface="Segoe UI"/>
                          <a:cs typeface="Segoe UI"/>
                        </a:rPr>
                        <a:t>(2 + 3) * 4</a:t>
                      </a:r>
                    </a:p>
                  </a:txBody>
                  <a:tcPr/>
                </a:tc>
                <a:extLst>
                  <a:ext uri="{0D108BD9-81ED-4DB2-BD59-A6C34878D82A}">
                    <a16:rowId xmlns:a16="http://schemas.microsoft.com/office/drawing/2014/main" val="1998793684"/>
                  </a:ext>
                </a:extLst>
              </a:tr>
              <a:tr h="791348">
                <a:tc>
                  <a:txBody>
                    <a:bodyPr/>
                    <a:lstStyle/>
                    <a:p>
                      <a:r>
                        <a:rPr lang="en-GB" sz="3200" b="1">
                          <a:latin typeface="Aptos"/>
                        </a:rPr>
                        <a:t>High</a:t>
                      </a:r>
                      <a:endParaRPr lang="en-GB" sz="3200" b="1" dirty="0">
                        <a:latin typeface="Aptos"/>
                      </a:endParaRPr>
                    </a:p>
                  </a:txBody>
                  <a:tcPr/>
                </a:tc>
                <a:tc>
                  <a:txBody>
                    <a:bodyPr/>
                    <a:lstStyle/>
                    <a:p>
                      <a:pPr lvl="0" algn="l">
                        <a:lnSpc>
                          <a:spcPct val="100000"/>
                        </a:lnSpc>
                        <a:spcBef>
                          <a:spcPts val="0"/>
                        </a:spcBef>
                        <a:spcAft>
                          <a:spcPts val="0"/>
                        </a:spcAft>
                        <a:buNone/>
                      </a:pPr>
                      <a:r>
                        <a:rPr lang="en-GB" sz="3200" b="1" i="0" u="none" strike="noStrike" noProof="0">
                          <a:latin typeface="Aptos"/>
                        </a:rPr>
                        <a:t>*</a:t>
                      </a:r>
                      <a:r>
                        <a:rPr lang="en-GB" sz="3200" b="1" i="0" u="none" strike="noStrike" noProof="0" dirty="0">
                          <a:latin typeface="Aptos"/>
                          <a:cs typeface="Segoe UI"/>
                        </a:rPr>
                        <a:t> </a:t>
                      </a:r>
                      <a:r>
                        <a:rPr lang="en-GB" sz="3200" b="1" i="0" u="none" strike="noStrike" noProof="0">
                          <a:latin typeface="Aptos"/>
                        </a:rPr>
                        <a:t>/</a:t>
                      </a:r>
                      <a:r>
                        <a:rPr lang="en-GB" sz="3200" b="1" i="0" u="none" strike="noStrike" noProof="0" dirty="0">
                          <a:latin typeface="Aptos"/>
                          <a:cs typeface="Segoe UI"/>
                        </a:rPr>
                        <a:t> </a:t>
                      </a:r>
                      <a:r>
                        <a:rPr lang="en-GB" sz="3200" b="1" i="0" u="none" strike="noStrike" noProof="0">
                          <a:latin typeface="Aptos"/>
                        </a:rPr>
                        <a:t>%</a:t>
                      </a:r>
                      <a:endParaRPr lang="en-US" sz="3200" b="1">
                        <a:latin typeface="Aptos"/>
                      </a:endParaRPr>
                    </a:p>
                    <a:p>
                      <a:pPr lvl="0">
                        <a:buNone/>
                      </a:pPr>
                      <a:endParaRPr lang="en-GB" sz="3200" b="1" dirty="0">
                        <a:latin typeface="Aptos"/>
                      </a:endParaRPr>
                    </a:p>
                  </a:txBody>
                  <a:tcPr/>
                </a:tc>
                <a:tc>
                  <a:txBody>
                    <a:bodyPr/>
                    <a:lstStyle/>
                    <a:p>
                      <a:r>
                        <a:rPr lang="en-GB" sz="3200" b="1">
                          <a:latin typeface="Aptos"/>
                        </a:rPr>
                        <a:t>3 * 4</a:t>
                      </a:r>
                      <a:endParaRPr lang="en-GB" sz="3200" b="1" dirty="0">
                        <a:latin typeface="Aptos"/>
                      </a:endParaRPr>
                    </a:p>
                  </a:txBody>
                  <a:tcPr/>
                </a:tc>
                <a:extLst>
                  <a:ext uri="{0D108BD9-81ED-4DB2-BD59-A6C34878D82A}">
                    <a16:rowId xmlns:a16="http://schemas.microsoft.com/office/drawing/2014/main" val="1738584751"/>
                  </a:ext>
                </a:extLst>
              </a:tr>
              <a:tr h="791348">
                <a:tc>
                  <a:txBody>
                    <a:bodyPr/>
                    <a:lstStyle/>
                    <a:p>
                      <a:r>
                        <a:rPr lang="en-GB" sz="3200" b="1">
                          <a:latin typeface="Aptos"/>
                        </a:rPr>
                        <a:t>Medium</a:t>
                      </a:r>
                      <a:endParaRPr lang="en-GB" sz="3200" b="1" dirty="0">
                        <a:latin typeface="Aptos"/>
                      </a:endParaRPr>
                    </a:p>
                  </a:txBody>
                  <a:tcPr/>
                </a:tc>
                <a:tc>
                  <a:txBody>
                    <a:bodyPr/>
                    <a:lstStyle/>
                    <a:p>
                      <a:r>
                        <a:rPr lang="en-GB" sz="3200" b="1">
                          <a:latin typeface="Aptos"/>
                        </a:rPr>
                        <a:t>+ -</a:t>
                      </a:r>
                      <a:endParaRPr lang="en-GB" sz="3200" b="1" dirty="0">
                        <a:latin typeface="Aptos"/>
                      </a:endParaRPr>
                    </a:p>
                  </a:txBody>
                  <a:tcPr/>
                </a:tc>
                <a:tc>
                  <a:txBody>
                    <a:bodyPr/>
                    <a:lstStyle/>
                    <a:p>
                      <a:r>
                        <a:rPr lang="en-GB" sz="3200" b="1">
                          <a:latin typeface="Aptos"/>
                        </a:rPr>
                        <a:t>2 + 12</a:t>
                      </a:r>
                      <a:endParaRPr lang="en-GB" sz="3200" b="1" dirty="0">
                        <a:latin typeface="Aptos"/>
                      </a:endParaRPr>
                    </a:p>
                  </a:txBody>
                  <a:tcPr/>
                </a:tc>
                <a:extLst>
                  <a:ext uri="{0D108BD9-81ED-4DB2-BD59-A6C34878D82A}">
                    <a16:rowId xmlns:a16="http://schemas.microsoft.com/office/drawing/2014/main" val="2287104225"/>
                  </a:ext>
                </a:extLst>
              </a:tr>
              <a:tr h="791348">
                <a:tc>
                  <a:txBody>
                    <a:bodyPr/>
                    <a:lstStyle/>
                    <a:p>
                      <a:r>
                        <a:rPr lang="en-GB" sz="3200" b="1">
                          <a:latin typeface="Aptos"/>
                        </a:rPr>
                        <a:t>Low</a:t>
                      </a:r>
                      <a:endParaRPr lang="en-GB" sz="3200" b="1" dirty="0">
                        <a:latin typeface="Aptos"/>
                      </a:endParaRPr>
                    </a:p>
                  </a:txBody>
                  <a:tcPr/>
                </a:tc>
                <a:tc>
                  <a:txBody>
                    <a:bodyPr/>
                    <a:lstStyle/>
                    <a:p>
                      <a:pPr lvl="0" algn="l">
                        <a:lnSpc>
                          <a:spcPct val="100000"/>
                        </a:lnSpc>
                        <a:spcBef>
                          <a:spcPts val="0"/>
                        </a:spcBef>
                        <a:spcAft>
                          <a:spcPts val="0"/>
                        </a:spcAft>
                        <a:buNone/>
                      </a:pPr>
                      <a:r>
                        <a:rPr lang="en-GB" sz="3200" b="0" i="0" u="none" strike="noStrike" noProof="0">
                          <a:latin typeface="Consolas"/>
                        </a:rPr>
                        <a:t>==</a:t>
                      </a:r>
                      <a:r>
                        <a:rPr lang="en-GB" sz="3200" b="0" i="0" u="none" strike="noStrike" noProof="0" dirty="0">
                          <a:latin typeface="Segoe UI"/>
                          <a:cs typeface="Segoe UI"/>
                        </a:rPr>
                        <a:t> </a:t>
                      </a:r>
                      <a:r>
                        <a:rPr lang="en-GB" sz="3200" b="0" i="0" u="none" strike="noStrike" noProof="0">
                          <a:latin typeface="Consolas"/>
                        </a:rPr>
                        <a:t>!=</a:t>
                      </a:r>
                      <a:r>
                        <a:rPr lang="en-GB" sz="3200" b="0" i="0" u="none" strike="noStrike" noProof="0" dirty="0">
                          <a:latin typeface="Segoe UI"/>
                          <a:cs typeface="Segoe UI"/>
                        </a:rPr>
                        <a:t> </a:t>
                      </a:r>
                      <a:r>
                        <a:rPr lang="en-GB" sz="3200" b="0" i="0" u="none" strike="noStrike" noProof="0">
                          <a:latin typeface="Consolas"/>
                        </a:rPr>
                        <a:t>&gt;</a:t>
                      </a:r>
                      <a:r>
                        <a:rPr lang="en-GB" sz="3200" b="0" i="0" u="none" strike="noStrike" noProof="0" dirty="0">
                          <a:latin typeface="Segoe UI"/>
                          <a:cs typeface="Segoe UI"/>
                        </a:rPr>
                        <a:t> </a:t>
                      </a:r>
                      <a:r>
                        <a:rPr lang="en-GB" sz="3200" b="0" i="0" u="none" strike="noStrike" noProof="0">
                          <a:latin typeface="Consolas"/>
                        </a:rPr>
                        <a:t>&gt;=</a:t>
                      </a:r>
                      <a:r>
                        <a:rPr lang="en-GB" sz="3200" b="0" i="0" u="none" strike="noStrike" noProof="0" dirty="0">
                          <a:latin typeface="Segoe UI"/>
                          <a:cs typeface="Segoe UI"/>
                        </a:rPr>
                        <a:t> </a:t>
                      </a:r>
                      <a:r>
                        <a:rPr lang="en-GB" sz="3200" b="0" i="0" u="none" strike="noStrike" noProof="0">
                          <a:latin typeface="Consolas"/>
                        </a:rPr>
                        <a:t>&lt;=</a:t>
                      </a:r>
                      <a:endParaRPr lang="en-US" sz="3200"/>
                    </a:p>
                    <a:p>
                      <a:pPr lvl="0">
                        <a:buNone/>
                      </a:pPr>
                      <a:endParaRPr lang="en-GB" sz="3200" b="1" dirty="0">
                        <a:latin typeface="Aptos"/>
                      </a:endParaRPr>
                    </a:p>
                  </a:txBody>
                  <a:tcPr/>
                </a:tc>
                <a:tc>
                  <a:txBody>
                    <a:bodyPr/>
                    <a:lstStyle/>
                    <a:p>
                      <a:r>
                        <a:rPr lang="en-GB" sz="3200" b="1">
                          <a:latin typeface="Aptos"/>
                        </a:rPr>
                        <a:t>10 &gt; 5</a:t>
                      </a:r>
                      <a:endParaRPr lang="en-GB" sz="3200" b="1" dirty="0">
                        <a:latin typeface="Aptos"/>
                      </a:endParaRPr>
                    </a:p>
                  </a:txBody>
                  <a:tcPr/>
                </a:tc>
                <a:extLst>
                  <a:ext uri="{0D108BD9-81ED-4DB2-BD59-A6C34878D82A}">
                    <a16:rowId xmlns:a16="http://schemas.microsoft.com/office/drawing/2014/main" val="2226105893"/>
                  </a:ext>
                </a:extLst>
              </a:tr>
            </a:tbl>
          </a:graphicData>
        </a:graphic>
      </p:graphicFrame>
    </p:spTree>
    <p:extLst>
      <p:ext uri="{BB962C8B-B14F-4D97-AF65-F5344CB8AC3E}">
        <p14:creationId xmlns:p14="http://schemas.microsoft.com/office/powerpoint/2010/main" val="2009249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D0AD5-9763-3568-257B-B6F547B08D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B18496-7962-E8C9-3A02-C4844A36E03E}"/>
              </a:ext>
            </a:extLst>
          </p:cNvPr>
          <p:cNvSpPr>
            <a:spLocks noGrp="1"/>
          </p:cNvSpPr>
          <p:nvPr>
            <p:ph idx="1"/>
          </p:nvPr>
        </p:nvSpPr>
        <p:spPr>
          <a:xfrm>
            <a:off x="838200" y="393290"/>
            <a:ext cx="10515600" cy="5783673"/>
          </a:xfrm>
        </p:spPr>
        <p:txBody>
          <a:bodyPr vert="horz" lIns="91440" tIns="45720" rIns="91440" bIns="45720" rtlCol="0" anchor="t">
            <a:normAutofit/>
          </a:bodyPr>
          <a:lstStyle/>
          <a:p>
            <a:r>
              <a:rPr lang="en-GB" dirty="0"/>
              <a:t>You can combine tests with logical operators. </a:t>
            </a:r>
            <a:endParaRPr lang="en-US"/>
          </a:p>
          <a:p>
            <a:r>
              <a:rPr lang="en-GB"/>
              <a:t>The symbol </a:t>
            </a:r>
            <a:r>
              <a:rPr lang="en-GB" b="1" dirty="0"/>
              <a:t>&amp;&amp;</a:t>
            </a:r>
            <a:r>
              <a:rPr lang="en-GB" dirty="0"/>
              <a:t> is a Boolean AND (i.e. test whether both sides are true), and</a:t>
            </a:r>
            <a:r>
              <a:rPr lang="en-GB" b="1" dirty="0"/>
              <a:t> ||</a:t>
            </a:r>
            <a:r>
              <a:rPr lang="en-GB" dirty="0"/>
              <a:t> is Boolean OR (i.e. test if either side is true). </a:t>
            </a:r>
            <a:endParaRPr lang="en-GB"/>
          </a:p>
          <a:p>
            <a:r>
              <a:rPr lang="en-GB"/>
              <a:t>So, to </a:t>
            </a:r>
            <a:r>
              <a:rPr lang="en-GB" dirty="0"/>
              <a:t>execute code only if both a and b are 0, you would use </a:t>
            </a:r>
          </a:p>
          <a:p>
            <a:endParaRPr lang="en-GB" dirty="0"/>
          </a:p>
          <a:p>
            <a:r>
              <a:rPr lang="en-GB"/>
              <a:t>if </a:t>
            </a:r>
            <a:r>
              <a:rPr lang="en-GB" b="1" dirty="0"/>
              <a:t>(a == 0 &amp;&amp; b == 0).</a:t>
            </a:r>
            <a:r>
              <a:rPr lang="en-GB" dirty="0"/>
              <a:t> </a:t>
            </a:r>
            <a:endParaRPr lang="en-GB"/>
          </a:p>
          <a:p>
            <a:r>
              <a:rPr lang="en-GB"/>
              <a:t>To check if either </a:t>
            </a:r>
            <a:r>
              <a:rPr lang="en-GB" b="1" dirty="0"/>
              <a:t>a</a:t>
            </a:r>
            <a:r>
              <a:rPr lang="en-GB" dirty="0"/>
              <a:t> or </a:t>
            </a:r>
            <a:r>
              <a:rPr lang="en-GB" b="1" dirty="0"/>
              <a:t>b </a:t>
            </a:r>
            <a:r>
              <a:rPr lang="en-GB" dirty="0"/>
              <a:t>is </a:t>
            </a:r>
            <a:r>
              <a:rPr lang="en-GB" b="1" dirty="0"/>
              <a:t>0</a:t>
            </a:r>
            <a:r>
              <a:rPr lang="en-GB" dirty="0"/>
              <a:t>, you use </a:t>
            </a:r>
          </a:p>
          <a:p>
            <a:r>
              <a:rPr lang="en-GB"/>
              <a:t>if </a:t>
            </a:r>
            <a:r>
              <a:rPr lang="en-GB" b="1" dirty="0"/>
              <a:t>(a == 0 || b == 0).</a:t>
            </a:r>
            <a:r>
              <a:rPr lang="en-GB" dirty="0"/>
              <a:t> </a:t>
            </a:r>
            <a:endParaRPr lang="en-GB"/>
          </a:p>
          <a:p>
            <a:endParaRPr lang="en-GB" dirty="0"/>
          </a:p>
          <a:p>
            <a:r>
              <a:rPr lang="en-GB" dirty="0"/>
              <a:t>Similarly, you can use the operator </a:t>
            </a:r>
            <a:r>
              <a:rPr lang="en-GB" b="1" dirty="0"/>
              <a:t>!</a:t>
            </a:r>
            <a:r>
              <a:rPr lang="en-GB" dirty="0"/>
              <a:t> as a Boolean NOT to invert the result of a test, so if </a:t>
            </a:r>
            <a:r>
              <a:rPr lang="en-GB" b="1" dirty="0"/>
              <a:t>(!(a == 0))</a:t>
            </a:r>
            <a:r>
              <a:rPr lang="en-GB" dirty="0"/>
              <a:t> is the same as if </a:t>
            </a:r>
            <a:r>
              <a:rPr lang="en-GB" b="1" dirty="0"/>
              <a:t>(a != 0</a:t>
            </a:r>
            <a:r>
              <a:rPr lang="en-GB" dirty="0"/>
              <a:t>).</a:t>
            </a:r>
          </a:p>
          <a:p>
            <a:endParaRPr lang="en-GB" dirty="0"/>
          </a:p>
          <a:p>
            <a:endParaRPr lang="en-GB" dirty="0"/>
          </a:p>
        </p:txBody>
      </p:sp>
    </p:spTree>
    <p:extLst>
      <p:ext uri="{BB962C8B-B14F-4D97-AF65-F5344CB8AC3E}">
        <p14:creationId xmlns:p14="http://schemas.microsoft.com/office/powerpoint/2010/main" val="4050531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5078A-F86C-E028-5534-E0AB99EA0F64}"/>
              </a:ext>
            </a:extLst>
          </p:cNvPr>
          <p:cNvSpPr>
            <a:spLocks noGrp="1"/>
          </p:cNvSpPr>
          <p:nvPr>
            <p:ph type="title"/>
          </p:nvPr>
        </p:nvSpPr>
        <p:spPr/>
        <p:txBody>
          <a:bodyPr/>
          <a:lstStyle/>
          <a:p>
            <a:r>
              <a:rPr lang="en-GB"/>
              <a:t>Lab tasks 1-3</a:t>
            </a:r>
          </a:p>
        </p:txBody>
      </p:sp>
      <p:sp>
        <p:nvSpPr>
          <p:cNvPr id="3" name="Content Placeholder 2">
            <a:extLst>
              <a:ext uri="{FF2B5EF4-FFF2-40B4-BE49-F238E27FC236}">
                <a16:creationId xmlns:a16="http://schemas.microsoft.com/office/drawing/2014/main" id="{064ECED1-AC67-1E06-3915-FA5B44981280}"/>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174102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509</Words>
  <Application>Microsoft Office PowerPoint</Application>
  <PresentationFormat>Widescreen</PresentationFormat>
  <Paragraphs>44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If statements &amp; Comparisons</vt:lpstr>
      <vt:lpstr>Selection &amp; If statements </vt:lpstr>
      <vt:lpstr>If-else</vt:lpstr>
      <vt:lpstr>PowerPoint Presentation</vt:lpstr>
      <vt:lpstr>The creators of the “C” language, Mr. Kernighan and Mr. Ritchie. They presented this style in their classic book </vt:lpstr>
      <vt:lpstr>PowerPoint Presentation</vt:lpstr>
      <vt:lpstr>PowerPoint Presentation</vt:lpstr>
      <vt:lpstr>= or ==</vt:lpstr>
      <vt:lpstr>PowerPoint Presentation</vt:lpstr>
      <vt:lpstr>Order of Precedence </vt:lpstr>
      <vt:lpstr>PowerPoint Presentation</vt:lpstr>
      <vt:lpstr>Lab tasks 1-3</vt:lpstr>
    </vt:vector>
  </TitlesOfParts>
  <Company>Shrewsbury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Glynn</dc:creator>
  <cp:lastModifiedBy>Damian Glynn</cp:lastModifiedBy>
  <cp:revision>60</cp:revision>
  <dcterms:created xsi:type="dcterms:W3CDTF">2026-08-05T10:58:21Z</dcterms:created>
  <dcterms:modified xsi:type="dcterms:W3CDTF">2026-08-05T12:08:36Z</dcterms:modified>
</cp:coreProperties>
</file>